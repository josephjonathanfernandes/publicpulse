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14" r:id="rId7"/>
    <p:sldId id="330" r:id="rId8"/>
    <p:sldId id="331" r:id="rId9"/>
    <p:sldId id="332" r:id="rId10"/>
    <p:sldId id="322" r:id="rId11"/>
    <p:sldId id="323" r:id="rId12"/>
    <p:sldId id="324" r:id="rId13"/>
    <p:sldId id="319" r:id="rId14"/>
    <p:sldId id="326" r:id="rId15"/>
    <p:sldId id="333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>
        <p:scale>
          <a:sx n="66" d="100"/>
          <a:sy n="66" d="100"/>
        </p:scale>
        <p:origin x="1253" y="45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6:26:20.68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24575,'8'1'0,"0"0"0,0 1 0,0 0 0,0 0 0,-1 1 0,1 0 0,-1 0 0,0 1 0,1-1 0,-2 2 0,1-1 0,8 8 0,-3-4 0,0 0 0,20 10 0,-18-10 0,-14-8 0,1 0 0,-1 1 0,0-1 0,0 0 0,0 0 0,0 0 0,0 0 0,0 0 0,0 1 0,0-1 0,0 0 0,0 0 0,0 0 0,0 0 0,0 0 0,0 1 0,0-1 0,0 0 0,0 0 0,0 0 0,0 0 0,0 0 0,0 1 0,0-1 0,0 0 0,0 0 0,0 0 0,0 0 0,0 0 0,0 1 0,0-1 0,0 0 0,-1 0 0,1 0 0,0 0 0,0 0 0,0 0 0,0 0 0,0 1 0,0-1 0,0 0 0,-1 0 0,1 0 0,0 0 0,-29 5 0,2-3-1365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6:27:16.93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228 35 24575,'-31'-1'0,"-29"0"0,56 2 0,0-1 0,0 1 0,-1-1 0,1 1 0,0 0 0,0 1 0,0-1 0,0 1 0,0 0 0,-6 4 0,7-3 0,1 0 0,-1 1 0,1-1 0,0 1 0,0 0 0,1 0 0,-1-1 0,1 1 0,0 0 0,0 1 0,0-1 0,0 0 0,1 0 0,-1 5 0,1-3 0,-1 1 0,0-1 0,-1 0 0,0 1 0,-3 7 0,5-13 0,-1 1 0,0-1 0,0 1 0,1-1 0,-1 1 0,0-1 0,-1 1 0,1-1 0,0 0 0,0 1 0,-1-1 0,1 0 0,0 0 0,-1 0 0,1 0 0,-1 0 0,1-1 0,-1 1 0,0 0 0,1-1 0,-1 1 0,-2 0 0,3-2 0,0 1 0,0-1 0,0 1 0,-1-1 0,1 1 0,0-1 0,0 0 0,0 1 0,0-1 0,1 0 0,-1 0 0,0 0 0,0 0 0,0 0 0,1 0 0,-1 0 0,0 0 0,1 0 0,-1 0 0,1 0 0,-1 0 0,1 0 0,0 0 0,-1-1 0,1 1 0,0 0 0,0 0 0,0-1 0,0 1 0,0 0 0,0-2 0,0-3 0,1 0 0,-1 0 0,1 0 0,0 0 0,1 1 0,-1-1 0,1 0 0,0 1 0,1-1 0,-1 1 0,1 0 0,0 0 0,0 0 0,6-7 0,-4 6 0,1-1 0,0 1 0,0 0 0,0 0 0,1 1 0,0 0 0,0 0 0,0 1 0,12-6 0,-11 8-1365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6:27:31.99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24575,'2'3'0,"-1"1"0,1-1 0,0-1 0,0 1 0,0 0 0,1 0 0,-1-1 0,1 1 0,-1-1 0,1 0 0,0 0 0,0 0 0,5 2 0,4 5 0,-4-2 0,0 0 0,1 0 0,0-1 0,0 0 0,0-1 0,1 0 0,-1-1 0,1 0 0,1 0 0,-1-1 0,0 0 0,1-1 0,-1 0 0,1 0 0,0-2 0,10 1 0,30-2-1365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6:27:46.4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209 0 24575,'-3'1'0,"0"0"0,0-1 0,0 1 0,0 0 0,0 1 0,1-1 0,-1 0 0,-5 4 0,-19 8 0,17-11 0,5-1 0,0-1 0,0 1 0,1 0 0,-1 1 0,0-1 0,1 1 0,-1 0 0,1 0 0,0 0 0,-1 1 0,1 0 0,0-1 0,1 1 0,-7 6 0,-24 16 0,29-22 0,-1 0 0,1 1 0,1-1 0,-1 1 0,-4 4 0,18-16 0,1 0 0,0 0 0,21-12 0,22-17 0,-50 35 0,-1 0 0,1 0 0,0 0 0,1 1 0,-1-1 0,0 1 0,1-1 0,-1 1 0,0 0 0,1 1 0,-1-1 0,1 0 0,0 1 0,4 0 0,5 1 0,-1 0 0,24 5 0,15 2 0,-47-7 0,1-1 0,-1 1 0,0 0 0,0 0 0,0 0 0,0 0 0,0 1 0,0-1 0,0 1 0,0 0 0,3 3 0,-6-4 0,0-1 0,0 1 0,0 0 0,0 0 0,0 0 0,-1-1 0,1 1 0,0 0 0,-1 0 0,1 0 0,-1 0 0,1 0 0,-1 0 0,1 0 0,-1 0 0,0 0 0,1 1 0,-1-1 0,0 0 0,0 0 0,0 0 0,0 0 0,0 0 0,0 1 0,0-1 0,0 0 0,0 0 0,-1 0 0,1 0 0,0 0 0,-1 0 0,1 0 0,-1 0 0,1 0 0,-1 0 0,0 0 0,1 0 0,-1 0 0,0 0 0,0 0 0,1 0 0,-1-1 0,0 1 0,-2 1 0,-15 16 0,9-9 0,0 0 0,0-1 0,-1 0 0,0 0 0,0-1 0,-18 9 0,27-16 0,1 0 0,-1 1 0,0-1 0,1 0 0,-1 0 0,0 0 0,1 0 0,-1 0 0,1 0 0,-1 0 0,0 0 0,1-1 0,-1 1 0,0 0 0,1 0 0,-1 0 0,1-1 0,-1 1 0,1 0 0,-1-1 0,1 1 0,-1 0 0,1-1 0,-1 1 0,1-1 0,-1 1 0,1-1 0,-1 1 0,1-1 0,0 1 0,-1-1 0,1 1 0,0-1 0,0 1 0,-1-1 0,1 0 0,0 1 0,0-1 0,0 1 0,0-1 0,0 0 0,0 1 0,0-1 0,0 0 0,0 0 0,-1-37 0,1 33 0,1-54-1365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6:30:50.617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0 508 24575,'18'-230'0,"-8"141"0,-5 52 0,-3 20 0,0 1 0,-1-1 0,-1 0 0,0 0 0,-4-21 0,2 22-1365,0 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6:30:58.53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0 479 24575,'0'-465'-1365,"0"452"-5461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6:31:18.223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15 508 24575,'0'-418'0,"-8"370"124,2 18-1613,5 19-5337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6:31:35.670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29 437 24575,'-11'-150'0,"-3"-79"0,11 184-1365,2 33-5461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09: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09:47.3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24575,'232'7'0,"35"0"0,-263-6 0,-5-1 0,-15 3 0,-26 0 0,25-3 0,-136-6 0,90 5-1365,57 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09.7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30.1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15.3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16.3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19.7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21.3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23.5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24.9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26.2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33.4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35.0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36.7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0:49.4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16.1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01.0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02.8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05.1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07.8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24575,'2'0'0,"0"0"0,3 0 0,0 0 0,1 0 0,1 0 0,1 0 0,-1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08.2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10.4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44 24575,'0'-1'0,"-2"0"0,1-2 0,-1-1 0,0 0 0,0-1 0,-2 1 0,1 0 0,0 0 0,-1 0 0,0 1 0,1-1 0,-1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10.8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22.1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24.8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26.6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1:33.8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2:40.426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7 81 24575,'0'-58'0,"0"36"0,0 21 0,0 10 0,-4 26-81,3-26 120,0-1 0,1 0-1,-1 0 1,2 14 0,0-20-113,-1 1 0,1-1 0,0 1 0,0-1 0,0 0 0,0 1 0,0-1 1,0 0-1,0 0 0,1 0 0,-1 0 0,1 0 0,0 0 0,-1 0 0,1 0 0,0-1 1,0 1-1,0-1 0,4 3 0,-2-2-6752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2:44.714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4 1 24575,'-2'42'0,"1"-27"0,0-1 0,1 1 0,1 0 0,3 24 0,-3-38-42,-1 0-1,1 0 0,0 0 1,-1 0-1,1 0 0,0 0 1,-1 0-1,1 0 0,0 0 1,0-1-1,0 1 0,0 0 1,0 0-1,0-1 0,0 1 1,0-1-1,0 1 0,0-1 1,0 1-1,1-1 0,-1 0 1,0 0-1,0 1 0,0-1 1,1 0-1,-1 0 0,0 0 1,0 0-1,0 0 0,1-1 1,1 1-1,3 0-6783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3:05.735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4 1 24575,'-1'28'0,"0"-20"0,0 1 0,0-1 0,1 1 0,1-1 0,0 1 0,0-1 0,0 1 0,1-1 0,5 14 0,1-17-1365,-4-5-5461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3:09.720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1 24575,'0'118'0,"4"-106"-1365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7T04:13:25.890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052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594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142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6.xml"/><Relationship Id="rId18" Type="http://schemas.openxmlformats.org/officeDocument/2006/relationships/image" Target="../media/image22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9.png"/><Relationship Id="rId17" Type="http://schemas.openxmlformats.org/officeDocument/2006/relationships/customXml" Target="../ink/ink8.xml"/><Relationship Id="rId2" Type="http://schemas.openxmlformats.org/officeDocument/2006/relationships/image" Target="../media/image14.jp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4.xml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.xml"/><Relationship Id="rId18" Type="http://schemas.openxmlformats.org/officeDocument/2006/relationships/customXml" Target="../ink/ink22.xml"/><Relationship Id="rId26" Type="http://schemas.openxmlformats.org/officeDocument/2006/relationships/customXml" Target="../ink/ink29.xml"/><Relationship Id="rId39" Type="http://schemas.openxmlformats.org/officeDocument/2006/relationships/image" Target="../media/image30.png"/><Relationship Id="rId21" Type="http://schemas.openxmlformats.org/officeDocument/2006/relationships/customXml" Target="../ink/ink25.xml"/><Relationship Id="rId34" Type="http://schemas.openxmlformats.org/officeDocument/2006/relationships/customXml" Target="../ink/ink36.xml"/><Relationship Id="rId42" Type="http://schemas.openxmlformats.org/officeDocument/2006/relationships/customXml" Target="../ink/ink40.xml"/><Relationship Id="rId7" Type="http://schemas.openxmlformats.org/officeDocument/2006/relationships/customXml" Target="../ink/ink11.xml"/><Relationship Id="rId2" Type="http://schemas.openxmlformats.org/officeDocument/2006/relationships/image" Target="../media/image23.jpg"/><Relationship Id="rId16" Type="http://schemas.openxmlformats.org/officeDocument/2006/relationships/customXml" Target="../ink/ink20.xml"/><Relationship Id="rId20" Type="http://schemas.openxmlformats.org/officeDocument/2006/relationships/customXml" Target="../ink/ink24.xml"/><Relationship Id="rId29" Type="http://schemas.openxmlformats.org/officeDocument/2006/relationships/customXml" Target="../ink/ink31.xml"/><Relationship Id="rId41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5.png"/><Relationship Id="rId11" Type="http://schemas.openxmlformats.org/officeDocument/2006/relationships/customXml" Target="../ink/ink15.xml"/><Relationship Id="rId24" Type="http://schemas.openxmlformats.org/officeDocument/2006/relationships/customXml" Target="../ink/ink28.xml"/><Relationship Id="rId32" Type="http://schemas.openxmlformats.org/officeDocument/2006/relationships/customXml" Target="../ink/ink34.xml"/><Relationship Id="rId37" Type="http://schemas.openxmlformats.org/officeDocument/2006/relationships/image" Target="../media/image29.png"/><Relationship Id="rId40" Type="http://schemas.openxmlformats.org/officeDocument/2006/relationships/customXml" Target="../ink/ink39.xml"/><Relationship Id="rId5" Type="http://schemas.openxmlformats.org/officeDocument/2006/relationships/customXml" Target="../ink/ink10.xml"/><Relationship Id="rId15" Type="http://schemas.openxmlformats.org/officeDocument/2006/relationships/customXml" Target="../ink/ink19.xml"/><Relationship Id="rId23" Type="http://schemas.openxmlformats.org/officeDocument/2006/relationships/customXml" Target="../ink/ink27.xml"/><Relationship Id="rId28" Type="http://schemas.openxmlformats.org/officeDocument/2006/relationships/image" Target="../media/image27.png"/><Relationship Id="rId36" Type="http://schemas.openxmlformats.org/officeDocument/2006/relationships/customXml" Target="../ink/ink37.xml"/><Relationship Id="rId10" Type="http://schemas.openxmlformats.org/officeDocument/2006/relationships/customXml" Target="../ink/ink14.xml"/><Relationship Id="rId19" Type="http://schemas.openxmlformats.org/officeDocument/2006/relationships/customXml" Target="../ink/ink23.xml"/><Relationship Id="rId31" Type="http://schemas.openxmlformats.org/officeDocument/2006/relationships/customXml" Target="../ink/ink33.xml"/><Relationship Id="rId4" Type="http://schemas.openxmlformats.org/officeDocument/2006/relationships/image" Target="../media/image24.png"/><Relationship Id="rId9" Type="http://schemas.openxmlformats.org/officeDocument/2006/relationships/customXml" Target="../ink/ink13.xml"/><Relationship Id="rId14" Type="http://schemas.openxmlformats.org/officeDocument/2006/relationships/customXml" Target="../ink/ink18.xml"/><Relationship Id="rId22" Type="http://schemas.openxmlformats.org/officeDocument/2006/relationships/customXml" Target="../ink/ink26.xml"/><Relationship Id="rId27" Type="http://schemas.openxmlformats.org/officeDocument/2006/relationships/customXml" Target="../ink/ink30.xml"/><Relationship Id="rId30" Type="http://schemas.openxmlformats.org/officeDocument/2006/relationships/customXml" Target="../ink/ink32.xml"/><Relationship Id="rId35" Type="http://schemas.openxmlformats.org/officeDocument/2006/relationships/image" Target="../media/image28.png"/><Relationship Id="rId43" Type="http://schemas.openxmlformats.org/officeDocument/2006/relationships/image" Target="../media/image32.png"/><Relationship Id="rId8" Type="http://schemas.openxmlformats.org/officeDocument/2006/relationships/customXml" Target="../ink/ink12.xml"/><Relationship Id="rId3" Type="http://schemas.openxmlformats.org/officeDocument/2006/relationships/customXml" Target="../ink/ink9.xml"/><Relationship Id="rId12" Type="http://schemas.openxmlformats.org/officeDocument/2006/relationships/customXml" Target="../ink/ink16.xml"/><Relationship Id="rId17" Type="http://schemas.openxmlformats.org/officeDocument/2006/relationships/customXml" Target="../ink/ink21.xml"/><Relationship Id="rId25" Type="http://schemas.openxmlformats.org/officeDocument/2006/relationships/image" Target="../media/image26.png"/><Relationship Id="rId33" Type="http://schemas.openxmlformats.org/officeDocument/2006/relationships/customXml" Target="../ink/ink35.xml"/><Relationship Id="rId38" Type="http://schemas.openxmlformats.org/officeDocument/2006/relationships/customXml" Target="../ink/ink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#G14SsBgfWVzCLqabN2-_3m_pobOh8aS3Y5" TargetMode="External"/><Relationship Id="rId2" Type="http://schemas.openxmlformats.org/officeDocument/2006/relationships/hyperlink" Target="https://lucid.app/lucidchart/c6fa1d3a-e28c-4b44-8f33-5707807c329e/edit?page=0_0&amp;invitationId=inv_33218b40-dd2f-4842-98f3-75023b3bd46a#/link" TargetMode="Externa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2150" y="-1247173"/>
            <a:ext cx="6392421" cy="3831221"/>
          </a:xfrm>
        </p:spPr>
        <p:txBody>
          <a:bodyPr anchor="ctr"/>
          <a:lstStyle/>
          <a:p>
            <a:r>
              <a:rPr lang="en-US" dirty="0" err="1">
                <a:latin typeface="Arial Black" panose="020B0A04020102020204" pitchFamily="34" charset="0"/>
              </a:rPr>
              <a:t>Erd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2AA38-EC3D-F6DA-2684-36D135FE2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10640"/>
            <a:ext cx="3916680" cy="3916680"/>
          </a:xfrm>
          <a:prstGeom prst="round2SameRect">
            <a:avLst>
              <a:gd name="adj1" fmla="val 32620"/>
              <a:gd name="adj2" fmla="val 30564"/>
            </a:avLst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sz="4000" cap="none" dirty="0" err="1"/>
              <a:t>PublicPulse</a:t>
            </a:r>
            <a:br>
              <a:rPr lang="en-US" cap="none" dirty="0"/>
            </a:br>
            <a:br>
              <a:rPr lang="en-US" cap="none" dirty="0"/>
            </a:br>
            <a:r>
              <a:rPr lang="en-US" b="0" cap="none" dirty="0">
                <a:latin typeface="+mn-lt"/>
              </a:rPr>
              <a:t>Group Members:</a:t>
            </a:r>
            <a:endParaRPr lang="en-US" b="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737" y="2583818"/>
            <a:ext cx="6583680" cy="3207344"/>
          </a:xfrm>
        </p:spPr>
        <p:txBody>
          <a:bodyPr/>
          <a:lstStyle/>
          <a:p>
            <a:r>
              <a:rPr lang="en-US" dirty="0" err="1"/>
              <a:t>Avin</a:t>
            </a:r>
            <a:r>
              <a:rPr lang="en-US" dirty="0"/>
              <a:t> </a:t>
            </a:r>
            <a:r>
              <a:rPr lang="en-US" dirty="0" err="1"/>
              <a:t>Kapolkar</a:t>
            </a:r>
            <a:endParaRPr lang="en-US" dirty="0"/>
          </a:p>
          <a:p>
            <a:r>
              <a:rPr lang="en-US" dirty="0"/>
              <a:t>Giselle Fernandes</a:t>
            </a:r>
          </a:p>
          <a:p>
            <a:r>
              <a:rPr lang="en-US" dirty="0"/>
              <a:t>Joseph Fernandes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096" y="-802910"/>
            <a:ext cx="7645984" cy="2520217"/>
          </a:xfrm>
        </p:spPr>
        <p:txBody>
          <a:bodyPr/>
          <a:lstStyle/>
          <a:p>
            <a:pPr algn="ctr"/>
            <a:r>
              <a:rPr lang="en-US" cap="none" dirty="0" err="1"/>
              <a:t>PublicPulse</a:t>
            </a:r>
            <a:r>
              <a:rPr lang="en-US" cap="none" dirty="0"/>
              <a:t> ERD </a:t>
            </a:r>
            <a:r>
              <a:rPr lang="en-US" sz="4000" cap="none" dirty="0"/>
              <a:t>Breakdown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766278" y="2236838"/>
            <a:ext cx="6901721" cy="2233233"/>
          </a:xfrm>
        </p:spPr>
        <p:txBody>
          <a:bodyPr>
            <a:noAutofit/>
          </a:bodyPr>
          <a:lstStyle/>
          <a:p>
            <a:pPr marR="0" lvl="0" rtl="0"/>
            <a:r>
              <a:rPr lang="en-US" sz="30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The ERD for </a:t>
            </a:r>
            <a:r>
              <a:rPr lang="en-US" sz="3000" b="0" i="0" u="none" strike="noStrike" kern="100" baseline="0" dirty="0" err="1">
                <a:solidFill>
                  <a:srgbClr val="0F4761"/>
                </a:solidFill>
                <a:latin typeface="Times New Roman" panose="02020603050405020304" pitchFamily="18" charset="0"/>
              </a:rPr>
              <a:t>PublicPulse</a:t>
            </a:r>
            <a:r>
              <a:rPr lang="en-US" sz="30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includes the following entities: USER, FEEDBACK, DEPARTMENT, and COMPLAINT. The USER entity has a specialization into ADMINISTRATOR and CITIZEN, which is a partial and disjoint relationship. </a:t>
            </a:r>
            <a:r>
              <a:rPr lang="en-US" sz="3000" kern="100" dirty="0">
                <a:solidFill>
                  <a:srgbClr val="0F4761"/>
                </a:solidFill>
                <a:latin typeface="Times New Roman" panose="02020603050405020304" pitchFamily="18" charset="0"/>
              </a:rPr>
              <a:t>Next we will see </a:t>
            </a:r>
            <a:r>
              <a:rPr lang="en-US" sz="3000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 detailed explanation of each entity, its attributes, and the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9C5E37-B008-937D-E468-410112A1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FEAE9-8183-B453-C94F-2C9FB6DD49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01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894627-C532-1CC9-738A-60B071386266}"/>
                  </a:ext>
                </a:extLst>
              </p14:cNvPr>
              <p14:cNvContentPartPr/>
              <p14:nvPr/>
            </p14:nvContentPartPr>
            <p14:xfrm>
              <a:off x="4546640" y="4419440"/>
              <a:ext cx="63720" cy="36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894627-C532-1CC9-738A-60B0713862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0640" y="4383440"/>
                <a:ext cx="1353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2360BA4-F688-3045-7CEA-0CF7627C19BF}"/>
                  </a:ext>
                </a:extLst>
              </p14:cNvPr>
              <p14:cNvContentPartPr/>
              <p14:nvPr/>
            </p14:nvContentPartPr>
            <p14:xfrm>
              <a:off x="4418840" y="4411880"/>
              <a:ext cx="82080" cy="66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2360BA4-F688-3045-7CEA-0CF7627C19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83200" y="4375880"/>
                <a:ext cx="1537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4C988B-0C68-7F72-6B69-B68E4074C186}"/>
                  </a:ext>
                </a:extLst>
              </p14:cNvPr>
              <p14:cNvContentPartPr/>
              <p14:nvPr/>
            </p14:nvContentPartPr>
            <p14:xfrm>
              <a:off x="2245280" y="4424480"/>
              <a:ext cx="100080" cy="41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4C988B-0C68-7F72-6B69-B68E4074C1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09280" y="4388480"/>
                <a:ext cx="1717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813FDF7-B5BF-588C-1CE4-F9AAD1F7E9D2}"/>
                  </a:ext>
                </a:extLst>
              </p14:cNvPr>
              <p14:cNvContentPartPr/>
              <p14:nvPr/>
            </p14:nvContentPartPr>
            <p14:xfrm>
              <a:off x="2114240" y="4424480"/>
              <a:ext cx="123840" cy="63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813FDF7-B5BF-588C-1CE4-F9AAD1F7E9D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78600" y="4388480"/>
                <a:ext cx="1954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E2E31D5-74BC-639A-0A18-1581BB49169C}"/>
                  </a:ext>
                </a:extLst>
              </p14:cNvPr>
              <p14:cNvContentPartPr/>
              <p14:nvPr/>
            </p14:nvContentPartPr>
            <p14:xfrm>
              <a:off x="2174240" y="4384160"/>
              <a:ext cx="14040" cy="1828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E2E31D5-74BC-639A-0A18-1581BB49169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69560" y="4379840"/>
                <a:ext cx="226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A7D0BC3-6C7C-D4E1-44F3-869DACFB0253}"/>
                  </a:ext>
                </a:extLst>
              </p14:cNvPr>
              <p14:cNvContentPartPr/>
              <p14:nvPr/>
            </p14:nvContentPartPr>
            <p14:xfrm>
              <a:off x="2250560" y="4364000"/>
              <a:ext cx="360" cy="1724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A7D0BC3-6C7C-D4E1-44F3-869DACFB025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45880" y="4359680"/>
                <a:ext cx="90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64929BD-B6FB-EB62-8599-0F2590EE9D91}"/>
                  </a:ext>
                </a:extLst>
              </p14:cNvPr>
              <p14:cNvContentPartPr/>
              <p14:nvPr/>
            </p14:nvContentPartPr>
            <p14:xfrm>
              <a:off x="4470320" y="4353560"/>
              <a:ext cx="5400" cy="1828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64929BD-B6FB-EB62-8599-0F2590EE9D9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66000" y="4349240"/>
                <a:ext cx="140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681CF3F-3D37-BC6E-A6B3-69031F9E9E10}"/>
                  </a:ext>
                </a:extLst>
              </p14:cNvPr>
              <p14:cNvContentPartPr/>
              <p14:nvPr/>
            </p14:nvContentPartPr>
            <p14:xfrm>
              <a:off x="4546280" y="4348520"/>
              <a:ext cx="10800" cy="1576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681CF3F-3D37-BC6E-A6B3-69031F9E9E1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41960" y="4344200"/>
                <a:ext cx="19440" cy="16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0377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DC4F31-EAD9-F488-1D89-C2845217F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52181D-9E32-EA5F-38F9-7463B9B15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70" y="0"/>
            <a:ext cx="887505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583E000-7F87-F7C4-1C60-E5201F500AF9}"/>
                  </a:ext>
                </a:extLst>
              </p14:cNvPr>
              <p14:cNvContentPartPr/>
              <p14:nvPr/>
            </p14:nvContentPartPr>
            <p14:xfrm>
              <a:off x="4607600" y="967760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583E000-7F87-F7C4-1C60-E5201F500A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1120" y="9612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0967AA0-74F4-F5E7-D919-6EC1878A3D2C}"/>
                  </a:ext>
                </a:extLst>
              </p14:cNvPr>
              <p14:cNvContentPartPr/>
              <p14:nvPr/>
            </p14:nvContentPartPr>
            <p14:xfrm>
              <a:off x="4607600" y="967760"/>
              <a:ext cx="181440" cy="7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0967AA0-74F4-F5E7-D919-6EC1878A3D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01480" y="961640"/>
                <a:ext cx="1936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F0EF486-5580-9FFF-8E9C-44F3470EA16F}"/>
                  </a:ext>
                </a:extLst>
              </p14:cNvPr>
              <p14:cNvContentPartPr/>
              <p14:nvPr/>
            </p14:nvContentPartPr>
            <p14:xfrm>
              <a:off x="4605080" y="95984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F0EF486-5580-9FFF-8E9C-44F3470EA1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98600" y="9537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150BC4C-FDD8-B289-C10E-34949C19D2C4}"/>
                  </a:ext>
                </a:extLst>
              </p14:cNvPr>
              <p14:cNvContentPartPr/>
              <p14:nvPr/>
            </p14:nvContentPartPr>
            <p14:xfrm>
              <a:off x="4625240" y="972800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150BC4C-FDD8-B289-C10E-34949C19D2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19120" y="9663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EA3C0A5-D223-60F9-8CD9-725845D01F55}"/>
                  </a:ext>
                </a:extLst>
              </p14:cNvPr>
              <p14:cNvContentPartPr/>
              <p14:nvPr/>
            </p14:nvContentPartPr>
            <p14:xfrm>
              <a:off x="4655840" y="95984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EA3C0A5-D223-60F9-8CD9-725845D01F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9360" y="9537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8EEA06-8F9A-B559-DAFA-37EF503089A9}"/>
                  </a:ext>
                </a:extLst>
              </p14:cNvPr>
              <p14:cNvContentPartPr/>
              <p14:nvPr/>
            </p14:nvContentPartPr>
            <p14:xfrm>
              <a:off x="4655840" y="959840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8EEA06-8F9A-B559-DAFA-37EF503089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9360" y="95372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EB0CC089-4B74-FFB5-8083-FB5E38EA98D0}"/>
              </a:ext>
            </a:extLst>
          </p:cNvPr>
          <p:cNvGrpSpPr/>
          <p:nvPr/>
        </p:nvGrpSpPr>
        <p:grpSpPr>
          <a:xfrm>
            <a:off x="4610120" y="975320"/>
            <a:ext cx="35640" cy="20520"/>
            <a:chOff x="4610120" y="975320"/>
            <a:chExt cx="35640" cy="2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0DBED4-26CB-A0D7-D421-069EE5523CFD}"/>
                    </a:ext>
                  </a:extLst>
                </p14:cNvPr>
                <p14:cNvContentPartPr/>
                <p14:nvPr/>
              </p14:nvContentPartPr>
              <p14:xfrm>
                <a:off x="4625240" y="982880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0DBED4-26CB-A0D7-D421-069EE5523CF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19120" y="9767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C77E49-4B9E-05FB-38CD-D2A117F266AB}"/>
                    </a:ext>
                  </a:extLst>
                </p14:cNvPr>
                <p14:cNvContentPartPr/>
                <p14:nvPr/>
              </p14:nvContentPartPr>
              <p14:xfrm>
                <a:off x="4610120" y="982880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C77E49-4B9E-05FB-38CD-D2A117F266A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03640" y="9767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E16497F-4B6F-437C-F4E0-94BAA250A194}"/>
                    </a:ext>
                  </a:extLst>
                </p14:cNvPr>
                <p14:cNvContentPartPr/>
                <p14:nvPr/>
              </p14:nvContentPartPr>
              <p14:xfrm>
                <a:off x="4615160" y="975320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E16497F-4B6F-437C-F4E0-94BAA250A19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08680" y="9688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C61120-9879-BB6D-3C62-A0AD185A9BEF}"/>
                    </a:ext>
                  </a:extLst>
                </p14:cNvPr>
                <p14:cNvContentPartPr/>
                <p14:nvPr/>
              </p14:nvContentPartPr>
              <p14:xfrm>
                <a:off x="4645400" y="975320"/>
                <a:ext cx="360" cy="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C61120-9879-BB6D-3C62-A0AD185A9BE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39280" y="9688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A89432-1220-56A9-44BB-504E170FD197}"/>
                    </a:ext>
                  </a:extLst>
                </p14:cNvPr>
                <p14:cNvContentPartPr/>
                <p14:nvPr/>
              </p14:nvContentPartPr>
              <p14:xfrm>
                <a:off x="4635320" y="982880"/>
                <a:ext cx="36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A89432-1220-56A9-44BB-504E170FD19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29200" y="9767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F472C76-5753-F983-E137-D204503A3C0F}"/>
                    </a:ext>
                  </a:extLst>
                </p14:cNvPr>
                <p14:cNvContentPartPr/>
                <p14:nvPr/>
              </p14:nvContentPartPr>
              <p14:xfrm>
                <a:off x="4617680" y="990440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F472C76-5753-F983-E137-D204503A3C0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11200" y="9843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AD5D5F-36BE-B52B-EEDC-C9C0005B2F3E}"/>
                    </a:ext>
                  </a:extLst>
                </p14:cNvPr>
                <p14:cNvContentPartPr/>
                <p14:nvPr/>
              </p14:nvContentPartPr>
              <p14:xfrm>
                <a:off x="4630280" y="995480"/>
                <a:ext cx="3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AD5D5F-36BE-B52B-EEDC-C9C0005B2F3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24160" y="9893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B997529-CD41-2FD4-BECE-65D0E2643B7A}"/>
                    </a:ext>
                  </a:extLst>
                </p14:cNvPr>
                <p14:cNvContentPartPr/>
                <p14:nvPr/>
              </p14:nvContentPartPr>
              <p14:xfrm>
                <a:off x="4637840" y="980360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B997529-CD41-2FD4-BECE-65D0E2643B7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31720" y="9742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B5F012E-3199-DDEC-0065-AAA232557D5A}"/>
                  </a:ext>
                </a:extLst>
              </p14:cNvPr>
              <p14:cNvContentPartPr/>
              <p14:nvPr/>
            </p14:nvContentPartPr>
            <p14:xfrm>
              <a:off x="4620200" y="6207800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B5F012E-3199-DDEC-0065-AAA232557D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14080" y="62013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159ECDA-7BF6-CA7A-0EF0-CA34D21FCD47}"/>
                  </a:ext>
                </a:extLst>
              </p14:cNvPr>
              <p14:cNvContentPartPr/>
              <p14:nvPr/>
            </p14:nvContentPartPr>
            <p14:xfrm>
              <a:off x="4617680" y="6202400"/>
              <a:ext cx="360" cy="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159ECDA-7BF6-CA7A-0EF0-CA34D21FCD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11200" y="619628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78A7DCF3-6CD2-D4E0-9AAF-F1C7BB7F9FA2}"/>
              </a:ext>
            </a:extLst>
          </p:cNvPr>
          <p:cNvGrpSpPr/>
          <p:nvPr/>
        </p:nvGrpSpPr>
        <p:grpSpPr>
          <a:xfrm>
            <a:off x="4602200" y="6205280"/>
            <a:ext cx="48960" cy="30600"/>
            <a:chOff x="4602200" y="6205280"/>
            <a:chExt cx="48960" cy="3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1D27E83-C7D0-E261-7968-9635121C5899}"/>
                    </a:ext>
                  </a:extLst>
                </p14:cNvPr>
                <p14:cNvContentPartPr/>
                <p14:nvPr/>
              </p14:nvContentPartPr>
              <p14:xfrm>
                <a:off x="4612640" y="6217880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1D27E83-C7D0-E261-7968-9635121C58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06160" y="62117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A56E8EE-3FD3-7F28-29DA-F0F3E3179C86}"/>
                    </a:ext>
                  </a:extLst>
                </p14:cNvPr>
                <p14:cNvContentPartPr/>
                <p14:nvPr/>
              </p14:nvContentPartPr>
              <p14:xfrm>
                <a:off x="4602200" y="6225440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A56E8EE-3FD3-7F28-29DA-F0F3E3179C8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96080" y="62193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CCCB2A-92F5-14C0-47D3-B4F7C2B30607}"/>
                    </a:ext>
                  </a:extLst>
                </p14:cNvPr>
                <p14:cNvContentPartPr/>
                <p14:nvPr/>
              </p14:nvContentPartPr>
              <p14:xfrm>
                <a:off x="4607600" y="6225440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CCCB2A-92F5-14C0-47D3-B4F7C2B3060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01120" y="62193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6AF38C4-2616-B267-9E7D-1494FEC43186}"/>
                    </a:ext>
                  </a:extLst>
                </p14:cNvPr>
                <p14:cNvContentPartPr/>
                <p14:nvPr/>
              </p14:nvContentPartPr>
              <p14:xfrm>
                <a:off x="4620200" y="6222920"/>
                <a:ext cx="1548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6AF38C4-2616-B267-9E7D-1494FEC431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14080" y="6216800"/>
                  <a:ext cx="27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2725A76-DEC2-00A1-8BE6-2F367EE6D5F7}"/>
                    </a:ext>
                  </a:extLst>
                </p14:cNvPr>
                <p14:cNvContentPartPr/>
                <p14:nvPr/>
              </p14:nvContentPartPr>
              <p14:xfrm>
                <a:off x="4640360" y="6222920"/>
                <a:ext cx="3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2725A76-DEC2-00A1-8BE6-2F367EE6D5F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34240" y="62168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05ADD4B-114C-19FD-F483-8E08D22904CB}"/>
                    </a:ext>
                  </a:extLst>
                </p14:cNvPr>
                <p14:cNvContentPartPr/>
                <p14:nvPr/>
              </p14:nvContentPartPr>
              <p14:xfrm>
                <a:off x="4633520" y="6207080"/>
                <a:ext cx="12600" cy="1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05ADD4B-114C-19FD-F483-8E08D22904C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627400" y="6200960"/>
                  <a:ext cx="24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1A1F58-F4D8-FFB7-06B4-2E786E1C8E57}"/>
                    </a:ext>
                  </a:extLst>
                </p14:cNvPr>
                <p14:cNvContentPartPr/>
                <p14:nvPr/>
              </p14:nvContentPartPr>
              <p14:xfrm>
                <a:off x="4630280" y="6205280"/>
                <a:ext cx="36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1A1F58-F4D8-FFB7-06B4-2E786E1C8E5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24160" y="61988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D77DE7B-5F9F-C9F1-A1CC-F7177268EEEF}"/>
                    </a:ext>
                  </a:extLst>
                </p14:cNvPr>
                <p14:cNvContentPartPr/>
                <p14:nvPr/>
              </p14:nvContentPartPr>
              <p14:xfrm>
                <a:off x="4645400" y="6233000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D77DE7B-5F9F-C9F1-A1CC-F7177268EEE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39280" y="62268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28748A-4C75-1C6A-57FF-4C4C59BFFC38}"/>
                    </a:ext>
                  </a:extLst>
                </p14:cNvPr>
                <p14:cNvContentPartPr/>
                <p14:nvPr/>
              </p14:nvContentPartPr>
              <p14:xfrm>
                <a:off x="4650800" y="6227960"/>
                <a:ext cx="360" cy="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28748A-4C75-1C6A-57FF-4C4C59BFFC3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44320" y="62218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DEA72C2-FAC2-945F-BD49-5A651AC92906}"/>
                    </a:ext>
                  </a:extLst>
                </p14:cNvPr>
                <p14:cNvContentPartPr/>
                <p14:nvPr/>
              </p14:nvContentPartPr>
              <p14:xfrm>
                <a:off x="4605080" y="6227960"/>
                <a:ext cx="360" cy="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DEA72C2-FAC2-945F-BD49-5A651AC9290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98600" y="62218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14AC6DA-02DE-F425-4825-96E4286721DF}"/>
                    </a:ext>
                  </a:extLst>
                </p14:cNvPr>
                <p14:cNvContentPartPr/>
                <p14:nvPr/>
              </p14:nvContentPartPr>
              <p14:xfrm>
                <a:off x="4602200" y="6235520"/>
                <a:ext cx="360" cy="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14AC6DA-02DE-F425-4825-96E4286721D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96080" y="62294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951ED42-E737-35CD-B5D8-CE15CBF515FE}"/>
                  </a:ext>
                </a:extLst>
              </p14:cNvPr>
              <p14:cNvContentPartPr/>
              <p14:nvPr/>
            </p14:nvContentPartPr>
            <p14:xfrm>
              <a:off x="4610240" y="6201320"/>
              <a:ext cx="12960" cy="522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951ED42-E737-35CD-B5D8-CE15CBF515F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05920" y="6197000"/>
                <a:ext cx="216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F110BD4-ACC4-F3FC-5925-98EC2A582B93}"/>
                  </a:ext>
                </a:extLst>
              </p14:cNvPr>
              <p14:cNvContentPartPr/>
              <p14:nvPr/>
            </p14:nvContentPartPr>
            <p14:xfrm>
              <a:off x="4631480" y="6189800"/>
              <a:ext cx="16560" cy="568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F110BD4-ACC4-F3FC-5925-98EC2A582B9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627160" y="6185480"/>
                <a:ext cx="2520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13CF0A8-43C4-6243-AAD1-FA3039E01916}"/>
                  </a:ext>
                </a:extLst>
              </p14:cNvPr>
              <p14:cNvContentPartPr/>
              <p14:nvPr/>
            </p14:nvContentPartPr>
            <p14:xfrm>
              <a:off x="4616360" y="959840"/>
              <a:ext cx="9360" cy="478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13CF0A8-43C4-6243-AAD1-FA3039E0191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12040" y="955520"/>
                <a:ext cx="180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6B73EA0-CD63-CAFB-4E4C-39593028D14A}"/>
                  </a:ext>
                </a:extLst>
              </p14:cNvPr>
              <p14:cNvContentPartPr/>
              <p14:nvPr/>
            </p14:nvContentPartPr>
            <p14:xfrm>
              <a:off x="4632920" y="959840"/>
              <a:ext cx="1800" cy="471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6B73EA0-CD63-CAFB-4E4C-39593028D14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28240" y="955520"/>
                <a:ext cx="104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FE25D6F-8344-3831-1958-C7A16844F480}"/>
                  </a:ext>
                </a:extLst>
              </p14:cNvPr>
              <p14:cNvContentPartPr/>
              <p14:nvPr/>
            </p14:nvContentPartPr>
            <p14:xfrm>
              <a:off x="-182640" y="-1417680"/>
              <a:ext cx="360" cy="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FE25D6F-8344-3831-1958-C7A16844F48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-187320" y="-1422000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9084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CA56A1-1963-261B-8B82-53A4D05CB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403" y="1461072"/>
            <a:ext cx="9879437" cy="2885439"/>
          </a:xfrm>
        </p:spPr>
        <p:txBody>
          <a:bodyPr/>
          <a:lstStyle/>
          <a:p>
            <a:r>
              <a:rPr lang="en-IN" cap="none" dirty="0"/>
              <a:t>ERDs created using </a:t>
            </a:r>
            <a:br>
              <a:rPr lang="en-IN" cap="none" dirty="0"/>
            </a:br>
            <a:r>
              <a:rPr lang="en-IN" cap="none" dirty="0" err="1"/>
              <a:t>LUCID</a:t>
            </a:r>
            <a:r>
              <a:rPr lang="en-IN" dirty="0" err="1"/>
              <a:t>chart</a:t>
            </a:r>
            <a:r>
              <a:rPr lang="en-IN" dirty="0"/>
              <a:t> </a:t>
            </a:r>
            <a:br>
              <a:rPr lang="en-IN" dirty="0"/>
            </a:br>
            <a:r>
              <a:rPr lang="en-IN" sz="1100" b="0" cap="none" dirty="0">
                <a:hlinkClick r:id="rId2"/>
              </a:rPr>
              <a:t>https://lucid.app/lucidchart/c6fa1d3a-e28c-4b44-8f33-5707807c329e/edit?page=0_0&amp;invitationId=inv_33218b40-dd2f-4842-98f3-75023b3bd46a#/link</a:t>
            </a:r>
            <a:br>
              <a:rPr lang="en-IN" sz="1100" b="0" cap="none" dirty="0"/>
            </a:br>
            <a:br>
              <a:rPr lang="en-IN" sz="1100" b="0" cap="none" dirty="0"/>
            </a:br>
            <a:br>
              <a:rPr lang="en-IN" sz="1100" b="0" cap="none" dirty="0"/>
            </a:br>
            <a:br>
              <a:rPr lang="en-IN" sz="1100" b="0" cap="none" dirty="0"/>
            </a:br>
            <a:br>
              <a:rPr lang="en-IN" sz="1100" b="0" cap="none" dirty="0"/>
            </a:br>
            <a:br>
              <a:rPr lang="en-IN" sz="1100" b="0" cap="none" dirty="0"/>
            </a:br>
            <a:r>
              <a:rPr lang="en-IN" cap="none" dirty="0"/>
              <a:t>DRAW.IO</a:t>
            </a:r>
            <a:br>
              <a:rPr lang="en-IN" cap="none" dirty="0"/>
            </a:br>
            <a:r>
              <a:rPr lang="en-IN" sz="1100" cap="none" dirty="0">
                <a:hlinkClick r:id="rId3"/>
              </a:rPr>
              <a:t>https://app.diagrams.net/#G14SsBgfWVzCLqabN2-_3m_pobOh8aS3Y5#%7B%22pageId%22%3A%22OW8rCGvSUznDIYREvSvy%22%7D</a:t>
            </a:r>
            <a:endParaRPr lang="en-IN" sz="1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209D12-E674-5B88-5648-6A7153B9C1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5323840"/>
            <a:ext cx="2975217" cy="71238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EA61C-479C-2F38-BDBE-2633476805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7154" y="5768786"/>
            <a:ext cx="6345893" cy="284822"/>
          </a:xfrm>
        </p:spPr>
        <p:txBody>
          <a:bodyPr>
            <a:normAutofit fontScale="85000" lnSpcReduction="20000"/>
          </a:bodyPr>
          <a:lstStyle/>
          <a:p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7DE41E-DD37-CF65-1DB2-189AA8158C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312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489"/>
            <a:ext cx="10511627" cy="1012785"/>
          </a:xfrm>
        </p:spPr>
        <p:txBody>
          <a:bodyPr/>
          <a:lstStyle/>
          <a:p>
            <a:r>
              <a:rPr lang="en-US" dirty="0"/>
              <a:t>Entities and attributes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971C1-73B4-37A7-4A46-43D4CE174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0186" y="1341398"/>
            <a:ext cx="10511627" cy="3948557"/>
          </a:xfrm>
        </p:spPr>
        <p:txBody>
          <a:bodyPr>
            <a:noAutofit/>
          </a:bodyPr>
          <a:lstStyle/>
          <a:p>
            <a:pPr marL="0" marR="0" lvl="0" indent="0" rtl="0">
              <a:buNone/>
            </a:pPr>
            <a:r>
              <a:rPr lang="en-IN" sz="24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FEEDBACK</a:t>
            </a:r>
          </a:p>
          <a:p>
            <a:pPr marR="0" lvl="0" rtl="0"/>
            <a:r>
              <a:rPr lang="en-US" sz="24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ID</a:t>
            </a:r>
            <a:r>
              <a:rPr lang="en-US" sz="24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Primary key (INT) - Unique identifier for each feedback.</a:t>
            </a:r>
          </a:p>
          <a:p>
            <a:pPr marR="0" lvl="0" rtl="0"/>
            <a:r>
              <a:rPr lang="en-US" sz="24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DATE</a:t>
            </a:r>
            <a:r>
              <a:rPr lang="en-US" sz="24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Date (DATE) - The date when the feedback was given.</a:t>
            </a:r>
          </a:p>
          <a:p>
            <a:pPr marR="0" lvl="0" rtl="0"/>
            <a:r>
              <a:rPr lang="en-US" sz="24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RATING</a:t>
            </a:r>
            <a:r>
              <a:rPr lang="en-US" sz="24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Rating (INT) - A numerical rating provided by the user.</a:t>
            </a:r>
          </a:p>
          <a:p>
            <a:pPr marR="0" lvl="0" rtl="0"/>
            <a:r>
              <a:rPr lang="en-US" sz="24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COMMENTS</a:t>
            </a:r>
            <a:r>
              <a:rPr lang="en-US" sz="24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Comments (VARCHAR) - Textual comments provided by the user.</a:t>
            </a:r>
          </a:p>
          <a:p>
            <a:pPr marR="0" lvl="0" rtl="0"/>
            <a:endParaRPr lang="en-IN" sz="2400" b="0" i="0" u="none" strike="noStrike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r>
              <a:rPr lang="en-IN" sz="24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USER</a:t>
            </a:r>
          </a:p>
          <a:p>
            <a:pPr marR="0" lvl="0" rtl="0"/>
            <a:r>
              <a:rPr lang="en-US" sz="240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For the USER entity, there is a specialization where it is divided into ADMINISTRATORS and CITIZENS. This is a partial relationship for both, and they are disjoint.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489"/>
            <a:ext cx="10511627" cy="1012785"/>
          </a:xfrm>
        </p:spPr>
        <p:txBody>
          <a:bodyPr/>
          <a:lstStyle/>
          <a:p>
            <a:r>
              <a:rPr lang="en-US" dirty="0"/>
              <a:t>Entities and attributes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971C1-73B4-37A7-4A46-43D4CE174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0186" y="1302883"/>
            <a:ext cx="10511627" cy="4802728"/>
          </a:xfrm>
        </p:spPr>
        <p:txBody>
          <a:bodyPr>
            <a:noAutofit/>
          </a:bodyPr>
          <a:lstStyle/>
          <a:p>
            <a:pPr marL="0" marR="0" lvl="0" indent="0" rtl="0">
              <a:buNone/>
            </a:pPr>
            <a:r>
              <a:rPr lang="en-IN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ADMINISTRATOR</a:t>
            </a:r>
            <a:r>
              <a:rPr lang="en-IN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(Specialization of USER)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ADMIN_ID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Foreign key (LONG INT) - Links to USER_ID in USER.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CONTACT_NO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Contact number (LONG INT, NOT NULL) - The administrator's contact number.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PRIORITY_COMPLAINED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Priority of complaints handled (VARCHAR) - Indicates the priority level of complaints the administrator handles.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EMAIL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Email address (VARCHAR) - The administrator's email address.</a:t>
            </a:r>
          </a:p>
          <a:p>
            <a:pPr marR="0" lvl="0" rtl="0"/>
            <a:endParaRPr lang="en-IN" sz="1100" b="0" i="0" u="none" strike="noStrike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r>
              <a:rPr lang="en-IN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CITIZEN</a:t>
            </a:r>
            <a:r>
              <a:rPr lang="en-IN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(Specialization of USER)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USER_ID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Primary key (LONG INT) - Unique identifier for each user.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USERNAME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Name (VARCHAR, NOT NULL) - The name of the user.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CONTACT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Contact number (INT) - The user's contact number.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ADDRESS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Address details (STREET, CITY, PINCODE) (VARCHAR) - The user's address.</a:t>
            </a:r>
          </a:p>
          <a:p>
            <a:pPr marL="0" marR="0" lvl="0" indent="0" rtl="0">
              <a:buNone/>
            </a:pPr>
            <a:endParaRPr lang="en-US" sz="2000" b="0" i="0" u="none" strike="noStrike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R="0" lvl="0" rtl="0"/>
            <a:endParaRPr lang="en-IN" sz="2000" b="0" i="0" u="none" strike="noStrike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157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489"/>
            <a:ext cx="10511627" cy="1012785"/>
          </a:xfrm>
        </p:spPr>
        <p:txBody>
          <a:bodyPr/>
          <a:lstStyle/>
          <a:p>
            <a:r>
              <a:rPr lang="en-US" dirty="0"/>
              <a:t>Entities and attributes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971C1-73B4-37A7-4A46-43D4CE174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0186" y="1057274"/>
            <a:ext cx="10511627" cy="4802728"/>
          </a:xfrm>
        </p:spPr>
        <p:txBody>
          <a:bodyPr>
            <a:noAutofit/>
          </a:bodyPr>
          <a:lstStyle/>
          <a:p>
            <a:pPr marL="0" marR="0" lvl="0" indent="0" rtl="0">
              <a:buNone/>
            </a:pPr>
            <a:r>
              <a:rPr lang="en-IN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COMPLAINT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COMP_ID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Primary key (LONG INT) - Unique identifier for each complaint.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DATE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Date (DATE) - The date when the complaint was lodged.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DEPARTMENT_NAME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Department related to the complaint (VARCHAR) - Foreign key referencing DEPARTMENT_NAME in DEPARTMENT.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INFO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Information (VARCHAR) - Details about the complaint.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STATUS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Status (VARCHAR) - The current status of the complaint (e.g., pending, resolved).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ADDRESS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Address related to the complaint (PINCODE) (VARCHAR, INT) - The address related to the complaint.</a:t>
            </a:r>
          </a:p>
          <a:p>
            <a:pPr marL="0" marR="0" lvl="0" indent="0" rtl="0">
              <a:buNone/>
            </a:pPr>
            <a:endParaRPr lang="en-US" sz="80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r>
              <a:rPr lang="en-IN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DEPARTMENT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DEPARTMENT_NUMBER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Department number (INT) - Unique identifier for each department.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DEPARTMENT_NAME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Name (VARCHAR) - The name of the department.</a:t>
            </a:r>
          </a:p>
          <a:p>
            <a:pPr marR="0" lvl="0" rtl="0"/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LOCATION</a:t>
            </a:r>
            <a:r>
              <a:rPr lang="en-US" sz="2000" b="0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: Location (VARCHAR) - The location of the department.</a:t>
            </a:r>
          </a:p>
          <a:p>
            <a:pPr marL="0" marR="0" lvl="0" indent="0" rtl="0">
              <a:buNone/>
            </a:pPr>
            <a:endParaRPr lang="en-US" sz="2000" b="0" i="0" u="none" strike="noStrike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endParaRPr lang="en-IN" sz="2000" b="0" i="0" u="none" strike="noStrike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663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611" y="270553"/>
            <a:ext cx="9879437" cy="980844"/>
          </a:xfr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V="1">
            <a:off x="1550564" y="6036223"/>
            <a:ext cx="2975217" cy="204155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C0CF15-417A-AC6F-8FD7-A20E6D477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0864" y="1574106"/>
            <a:ext cx="10342184" cy="4826695"/>
          </a:xfrm>
        </p:spPr>
        <p:txBody>
          <a:bodyPr>
            <a:normAutofit lnSpcReduction="10000"/>
          </a:bodyPr>
          <a:lstStyle/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FEEDBACK to CITIZEN </a:t>
            </a:r>
          </a:p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 1 FEEDBACK, a CITIZEN can give.</a:t>
            </a:r>
          </a:p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Relationship: GIVEN_BY</a:t>
            </a:r>
          </a:p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Cardinality: 1 to 1( One FEEDBACK is given by One CITIZEN).</a:t>
            </a:r>
          </a:p>
          <a:p>
            <a:pPr marL="0" marR="0" lvl="0" indent="0" rtl="0">
              <a:buNone/>
            </a:pPr>
            <a:endParaRPr lang="en-US" sz="2000" b="1" i="0" u="none" strike="noStrike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CITIZEN to COMPLAINT</a:t>
            </a:r>
          </a:p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An CITIZEN can give multiple COMPLAINTs.</a:t>
            </a:r>
          </a:p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Relationship: GIVES</a:t>
            </a:r>
          </a:p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Cardinality: 1 to N (One CITIZEN can give many COMPLAINTs).</a:t>
            </a:r>
          </a:p>
          <a:p>
            <a:pPr marL="0" marR="0" lvl="0" indent="0" rtl="0">
              <a:buNone/>
            </a:pPr>
            <a:endParaRPr lang="en-US" sz="2000" b="1" i="0" u="none" strike="noStrike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ADMINISTRATOR to COMPLAINT</a:t>
            </a:r>
          </a:p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An ADMINISTRATOR checks multiple COMPLAINTs.</a:t>
            </a:r>
          </a:p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Relationship: CHECKS</a:t>
            </a:r>
          </a:p>
          <a:p>
            <a:pPr marL="0" marR="0" lvl="0" indent="0" rtl="0">
              <a:buNone/>
            </a:pPr>
            <a:r>
              <a:rPr lang="en-US" sz="20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Cardinality: 1 to N (One ADMINISTRATOR can check many COMPLAINTs).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611" y="270553"/>
            <a:ext cx="9879437" cy="980844"/>
          </a:xfr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V="1">
            <a:off x="1550564" y="6036223"/>
            <a:ext cx="2975217" cy="204155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C0CF15-417A-AC6F-8FD7-A20E6D477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0864" y="1574106"/>
            <a:ext cx="10342184" cy="4826695"/>
          </a:xfrm>
        </p:spPr>
        <p:txBody>
          <a:bodyPr>
            <a:normAutofit/>
          </a:bodyPr>
          <a:lstStyle/>
          <a:p>
            <a:pPr marL="0" marR="0" lvl="0" indent="0" rtl="0">
              <a:buNone/>
            </a:pPr>
            <a:r>
              <a:rPr lang="en-US" sz="22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FEEDBACK TO ADMINISTRATOR	</a:t>
            </a:r>
          </a:p>
          <a:p>
            <a:pPr marL="0" marR="0" lvl="0" indent="0" rtl="0">
              <a:buNone/>
            </a:pPr>
            <a:r>
              <a:rPr lang="en-US" sz="22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Multiple FEEDBACKs can be  checked by 1 ADMINISTRATOR </a:t>
            </a:r>
          </a:p>
          <a:p>
            <a:pPr marL="0" marR="0" lvl="0" indent="0" rtl="0">
              <a:buNone/>
            </a:pPr>
            <a:r>
              <a:rPr lang="en-US" sz="22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Relationship: CHECKED</a:t>
            </a:r>
          </a:p>
          <a:p>
            <a:pPr marL="0" marR="0" lvl="0" indent="0" rtl="0">
              <a:buNone/>
            </a:pPr>
            <a:r>
              <a:rPr lang="en-US" sz="22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Cardinality: N to 1 (Multiple FEEDBACKs can be  checked by One ADMINISTRATOR).</a:t>
            </a:r>
          </a:p>
          <a:p>
            <a:pPr marL="0" marR="0" lvl="0" indent="0" rtl="0">
              <a:buNone/>
            </a:pPr>
            <a:endParaRPr lang="en-US" sz="2200" b="1" i="0" u="none" strike="noStrike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  <a:p>
            <a:pPr marL="0" marR="0" lvl="0" indent="0" rtl="0">
              <a:buNone/>
            </a:pPr>
            <a:r>
              <a:rPr lang="en-US" sz="22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DEPARTMENT to COMPLAINT</a:t>
            </a:r>
          </a:p>
          <a:p>
            <a:pPr marL="0" marR="0" lvl="0" indent="0" rtl="0">
              <a:buNone/>
            </a:pPr>
            <a:r>
              <a:rPr lang="en-US" sz="22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A DEPARTMENT can be notified with multiple COMPLAINTs.</a:t>
            </a:r>
          </a:p>
          <a:p>
            <a:pPr marL="0" marR="0" lvl="0" indent="0" rtl="0">
              <a:buNone/>
            </a:pPr>
            <a:r>
              <a:rPr lang="en-US" sz="22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Relationship: IS_NOTIFIED</a:t>
            </a:r>
          </a:p>
          <a:p>
            <a:pPr marL="0" marR="0" lvl="0" indent="0" rtl="0">
              <a:buNone/>
            </a:pPr>
            <a:r>
              <a:rPr lang="en-US" sz="22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DEPARTMENT_NAME in DEPARTMENT is a foreign key in COMPLAINT.</a:t>
            </a:r>
          </a:p>
          <a:p>
            <a:pPr marL="0" marR="0" lvl="0" indent="0" rtl="0">
              <a:buNone/>
            </a:pPr>
            <a:r>
              <a:rPr lang="en-US" sz="2200" b="1" i="0" u="none" strike="noStrike" baseline="0" dirty="0">
                <a:solidFill>
                  <a:srgbClr val="0F4761"/>
                </a:solidFill>
                <a:latin typeface="Times New Roman" panose="02020603050405020304" pitchFamily="18" charset="0"/>
              </a:rPr>
              <a:t>Cardinality: 1 to N (One DEPARTMENT can have many COMPLAINTs).</a:t>
            </a:r>
          </a:p>
        </p:txBody>
      </p:sp>
    </p:spTree>
    <p:extLst>
      <p:ext uri="{BB962C8B-B14F-4D97-AF65-F5344CB8AC3E}">
        <p14:creationId xmlns:p14="http://schemas.microsoft.com/office/powerpoint/2010/main" val="1677495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8352E8-0B42-28E4-6D60-78600AB2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31E0A9-8F12-EDC7-0113-C9AE891746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745481-9BA4-B276-E8BE-4E6ACF9FD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091679" cy="3720337"/>
          </a:xfrm>
        </p:spPr>
        <p:txBody>
          <a:bodyPr>
            <a:normAutofit/>
          </a:bodyPr>
          <a:lstStyle/>
          <a:p>
            <a:pPr algn="just"/>
            <a:r>
              <a:rPr lang="en-IN" sz="24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IN" sz="2400" kern="1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PublicPulse</a:t>
            </a:r>
            <a:r>
              <a:rPr lang="en-IN" sz="2400" kern="1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ERD efficiently structures key entities—USER, FEEDBACK, DEPARTMENT, and COMPLAINT—with clear attributes and relationships. It specializes USER into ADMINISTRATOR and CITIZEN for role-specific data. Defined relationships and use of primary and foreign keys ensure data integrity and streamlined handling, making it a robust framework for managing interactions and responses within the portal.</a:t>
            </a:r>
            <a:endParaRPr lang="en-IN" sz="2400" kern="100" dirty="0">
              <a:solidFill>
                <a:schemeClr val="tx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2"/>
              </a:solidFill>
            </a:endParaRPr>
          </a:p>
          <a:p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8D0F44-DB3E-7BE6-D9CD-7F3FBCF20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062720" y="2303028"/>
            <a:ext cx="660400" cy="372033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3627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1680539"/>
            <a:ext cx="5715000" cy="2727709"/>
          </a:xfrm>
        </p:spPr>
        <p:txBody>
          <a:bodyPr/>
          <a:lstStyle/>
          <a:p>
            <a:r>
              <a:rPr lang="en-US" sz="5400" dirty="0"/>
              <a:t>Thank </a:t>
            </a:r>
            <a:br>
              <a:rPr lang="en-US" sz="5400" dirty="0"/>
            </a:br>
            <a:r>
              <a:rPr lang="en-US" sz="5400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5727032"/>
            <a:ext cx="5715000" cy="321216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openxmlformats.org/package/2006/metadata/core-properties"/>
    <ds:schemaRef ds:uri="http://schemas.microsoft.com/sharepoint/v3"/>
    <ds:schemaRef ds:uri="http://purl.org/dc/terms/"/>
    <ds:schemaRef ds:uri="http://schemas.microsoft.com/office/infopath/2007/PartnerControls"/>
    <ds:schemaRef ds:uri="71af3243-3dd4-4a8d-8c0d-dd76da1f02a5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230e9df3-be65-4c73-a93b-d1236ebd677e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{9E9C61FA-A214-46B0-8EAA-358C52E2514B}tf78438558_win32</Template>
  <TotalTime>1104</TotalTime>
  <Words>777</Words>
  <Application>Microsoft Office PowerPoint</Application>
  <PresentationFormat>Widescreen</PresentationFormat>
  <Paragraphs>82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Black</vt:lpstr>
      <vt:lpstr>Calibri</vt:lpstr>
      <vt:lpstr>Sabon Next LT</vt:lpstr>
      <vt:lpstr>Times New Roman</vt:lpstr>
      <vt:lpstr>Custom</vt:lpstr>
      <vt:lpstr>Erd presentation</vt:lpstr>
      <vt:lpstr>PublicPulse  Group Members:</vt:lpstr>
      <vt:lpstr>PublicPulse ERD Breakdown</vt:lpstr>
      <vt:lpstr>PowerPoint Presentation</vt:lpstr>
      <vt:lpstr>PowerPoint Presentation</vt:lpstr>
      <vt:lpstr>ERDs created using  LUCIDchart  https://lucid.app/lucidchart/c6fa1d3a-e28c-4b44-8f33-5707807c329e/edit?page=0_0&amp;invitationId=inv_33218b40-dd2f-4842-98f3-75023b3bd46a#/link      DRAW.IO https://app.diagrams.net/#G14SsBgfWVzCLqabN2-_3m_pobOh8aS3Y5#%7B%22pageId%22%3A%22OW8rCGvSUznDIYREvSvy%22%7D</vt:lpstr>
      <vt:lpstr>Entities and attributes</vt:lpstr>
      <vt:lpstr>Entities and attributes</vt:lpstr>
      <vt:lpstr>Entities and attributes</vt:lpstr>
      <vt:lpstr>relationships</vt:lpstr>
      <vt:lpstr>relationships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Giselle Fernandes</dc:creator>
  <cp:lastModifiedBy>Giselle Fernandes</cp:lastModifiedBy>
  <cp:revision>19</cp:revision>
  <dcterms:created xsi:type="dcterms:W3CDTF">2024-08-06T08:08:02Z</dcterms:created>
  <dcterms:modified xsi:type="dcterms:W3CDTF">2024-08-07T06:39:53Z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